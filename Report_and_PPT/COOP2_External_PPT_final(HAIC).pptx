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0"/>
  </p:notesMasterIdLst>
  <p:handoutMasterIdLst>
    <p:handoutMasterId r:id="rId21"/>
  </p:handoutMasterIdLst>
  <p:sldIdLst>
    <p:sldId id="256" r:id="rId5"/>
    <p:sldId id="257" r:id="rId6"/>
    <p:sldId id="270" r:id="rId7"/>
    <p:sldId id="269" r:id="rId8"/>
    <p:sldId id="271" r:id="rId9"/>
    <p:sldId id="272" r:id="rId10"/>
    <p:sldId id="273" r:id="rId11"/>
    <p:sldId id="274" r:id="rId12"/>
    <p:sldId id="275" r:id="rId13"/>
    <p:sldId id="276" r:id="rId14"/>
    <p:sldId id="277" r:id="rId15"/>
    <p:sldId id="278" r:id="rId16"/>
    <p:sldId id="279" r:id="rId17"/>
    <p:sldId id="280" r:id="rId18"/>
    <p:sldId id="268" r:id="rId19"/>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923827"/>
            <a:ext cx="9144000" cy="5542961"/>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3200" b="1" dirty="0"/>
              <a:t>Human–AI Collaboration in Decision Making</a:t>
            </a: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1600" spc="-1" dirty="0">
                <a:solidFill>
                  <a:srgbClr val="000000"/>
                </a:solidFill>
                <a:latin typeface="Times New Roman" panose="02020603050405020304" pitchFamily="18" charset="0"/>
                <a:ea typeface="MS PGothic"/>
                <a:cs typeface="Times New Roman" panose="02020603050405020304" pitchFamily="18" charset="0"/>
              </a:rPr>
              <a:t>Avleen Kaur</a:t>
            </a:r>
          </a:p>
          <a:p>
            <a:pPr algn="ctr">
              <a:lnSpc>
                <a:spcPct val="100000"/>
              </a:lnSpc>
              <a:spcBef>
                <a:spcPts val="400"/>
              </a:spcBef>
            </a:pPr>
            <a:r>
              <a:rPr lang="en-US" sz="1600" b="0" strike="noStrike" spc="-1" dirty="0">
                <a:solidFill>
                  <a:srgbClr val="000000"/>
                </a:solidFill>
                <a:latin typeface="Times New Roman" panose="02020603050405020304" pitchFamily="18" charset="0"/>
                <a:ea typeface="MS PGothic"/>
                <a:cs typeface="Times New Roman" panose="02020603050405020304" pitchFamily="18" charset="0"/>
              </a:rPr>
              <a:t>2210990203</a:t>
            </a:r>
          </a:p>
          <a:p>
            <a:pPr algn="ctr">
              <a:lnSpc>
                <a:spcPct val="100000"/>
              </a:lnSpc>
              <a:spcBef>
                <a:spcPts val="400"/>
              </a:spcBef>
            </a:pPr>
            <a:r>
              <a:rPr lang="en-US" sz="1600" spc="-1" dirty="0">
                <a:solidFill>
                  <a:srgbClr val="000000"/>
                </a:solidFill>
                <a:latin typeface="Times New Roman" panose="02020603050405020304" pitchFamily="18" charset="0"/>
                <a:ea typeface="MS PGothic"/>
                <a:cs typeface="Times New Roman" panose="02020603050405020304" pitchFamily="18" charset="0"/>
              </a:rPr>
              <a:t>Ruhani Munjal</a:t>
            </a:r>
          </a:p>
          <a:p>
            <a:pPr algn="ctr">
              <a:lnSpc>
                <a:spcPct val="100000"/>
              </a:lnSpc>
              <a:spcBef>
                <a:spcPts val="400"/>
              </a:spcBef>
            </a:pPr>
            <a:r>
              <a:rPr lang="en-US" sz="1600" spc="-1" dirty="0">
                <a:solidFill>
                  <a:srgbClr val="000000"/>
                </a:solidFill>
                <a:latin typeface="Times New Roman" panose="02020603050405020304" pitchFamily="18" charset="0"/>
                <a:ea typeface="MS PGothic"/>
                <a:cs typeface="Times New Roman" panose="02020603050405020304" pitchFamily="18" charset="0"/>
              </a:rPr>
              <a:t>2210992194</a:t>
            </a:r>
          </a:p>
          <a:p>
            <a:pPr algn="ctr">
              <a:lnSpc>
                <a:spcPct val="100000"/>
              </a:lnSpc>
              <a:spcBef>
                <a:spcPts val="400"/>
              </a:spcBef>
            </a:pPr>
            <a:r>
              <a:rPr lang="en-US" sz="1600" spc="-1" dirty="0" err="1">
                <a:solidFill>
                  <a:srgbClr val="000000"/>
                </a:solidFill>
                <a:latin typeface="Times New Roman" panose="02020603050405020304" pitchFamily="18" charset="0"/>
                <a:ea typeface="MS PGothic"/>
                <a:cs typeface="Times New Roman" panose="02020603050405020304" pitchFamily="18" charset="0"/>
              </a:rPr>
              <a:t>Mimansa</a:t>
            </a:r>
            <a:endParaRPr lang="en-US" sz="16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1600" spc="-1" dirty="0">
                <a:solidFill>
                  <a:srgbClr val="000000"/>
                </a:solidFill>
                <a:latin typeface="Times New Roman" panose="02020603050405020304" pitchFamily="18" charset="0"/>
                <a:ea typeface="MS PGothic"/>
                <a:cs typeface="Times New Roman" panose="02020603050405020304" pitchFamily="18" charset="0"/>
              </a:rPr>
              <a:t>2210991926</a:t>
            </a:r>
          </a:p>
          <a:p>
            <a:pPr algn="ctr">
              <a:lnSpc>
                <a:spcPct val="100000"/>
              </a:lnSpc>
              <a:spcBef>
                <a:spcPts val="400"/>
              </a:spcBef>
            </a:pPr>
            <a:r>
              <a:rPr lang="en-US" sz="1600" spc="-1" dirty="0">
                <a:solidFill>
                  <a:srgbClr val="000000"/>
                </a:solidFill>
                <a:latin typeface="Times New Roman" panose="02020603050405020304" pitchFamily="18" charset="0"/>
                <a:ea typeface="MS PGothic"/>
                <a:cs typeface="Times New Roman" panose="02020603050405020304" pitchFamily="18" charset="0"/>
              </a:rPr>
              <a:t>Vanshika</a:t>
            </a:r>
          </a:p>
          <a:p>
            <a:pPr algn="ctr">
              <a:lnSpc>
                <a:spcPct val="100000"/>
              </a:lnSpc>
              <a:spcBef>
                <a:spcPts val="400"/>
              </a:spcBef>
            </a:pPr>
            <a:r>
              <a:rPr lang="en-US" sz="1600" spc="-1" dirty="0">
                <a:solidFill>
                  <a:srgbClr val="000000"/>
                </a:solidFill>
                <a:latin typeface="Times New Roman" panose="02020603050405020304" pitchFamily="18" charset="0"/>
                <a:ea typeface="MS PGothic"/>
                <a:cs typeface="Times New Roman" panose="02020603050405020304" pitchFamily="18" charset="0"/>
              </a:rPr>
              <a:t>2210992505</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1" spc="-1" dirty="0">
                <a:solidFill>
                  <a:srgbClr val="000000"/>
                </a:solidFill>
                <a:latin typeface="Times New Roman" panose="02020603050405020304" pitchFamily="18" charset="0"/>
                <a:ea typeface="MS PGothic"/>
                <a:cs typeface="Times New Roman" panose="02020603050405020304" pitchFamily="18" charset="0"/>
              </a:rPr>
              <a:t>Supervised </a:t>
            </a:r>
            <a:r>
              <a:rPr lang="en-US" sz="2000" b="1" spc="-1" dirty="0" err="1">
                <a:solidFill>
                  <a:srgbClr val="000000"/>
                </a:solidFill>
                <a:latin typeface="Times New Roman" panose="02020603050405020304" pitchFamily="18" charset="0"/>
                <a:ea typeface="MS PGothic"/>
                <a:cs typeface="Times New Roman" panose="02020603050405020304" pitchFamily="18" charset="0"/>
              </a:rPr>
              <a:t>By</a:t>
            </a:r>
            <a:r>
              <a:rPr lang="en-US" sz="2000" spc="-1" dirty="0" err="1">
                <a:solidFill>
                  <a:srgbClr val="000000"/>
                </a:solidFill>
                <a:latin typeface="Times New Roman" panose="02020603050405020304" pitchFamily="18" charset="0"/>
                <a:ea typeface="MS PGothic"/>
                <a:cs typeface="Times New Roman" panose="02020603050405020304" pitchFamily="18" charset="0"/>
              </a:rPr>
              <a:t>:</a:t>
            </a:r>
            <a:r>
              <a:rPr lang="en-US" sz="2000" spc="-1" dirty="0" err="1">
                <a:solidFill>
                  <a:srgbClr val="000000"/>
                </a:solidFill>
                <a:latin typeface="Times New Roman" panose="02020603050405020304" pitchFamily="18" charset="0"/>
                <a:cs typeface="Times New Roman" panose="02020603050405020304" pitchFamily="18" charset="0"/>
              </a:rPr>
              <a:t>Shikha</a:t>
            </a:r>
            <a:r>
              <a:rPr lang="en-US" sz="2000" spc="-1" dirty="0">
                <a:solidFill>
                  <a:srgbClr val="000000"/>
                </a:solidFill>
                <a:latin typeface="Times New Roman" panose="02020603050405020304" pitchFamily="18" charset="0"/>
                <a:cs typeface="Times New Roman" panose="02020603050405020304" pitchFamily="18" charset="0"/>
              </a:rPr>
              <a:t> Tuteja, Associate Professor, CSE</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290440" y="-14773"/>
            <a:ext cx="6019560" cy="837720"/>
          </a:xfrm>
          <a:prstGeom prst="rect">
            <a:avLst/>
          </a:prstGeom>
          <a:noFill/>
          <a:ln w="9360">
            <a:noFill/>
          </a:ln>
        </p:spPr>
        <p:txBody>
          <a:bodyPr anchor="ctr">
            <a:noAutofit/>
          </a:bodyPr>
          <a:lstStyle/>
          <a:p>
            <a:pPr algn="ctr">
              <a:lnSpc>
                <a:spcPct val="100000"/>
              </a:lnSpc>
            </a:pPr>
            <a:r>
              <a:rPr lang="en" sz="4400" dirty="0">
                <a:latin typeface="Times New Roman" panose="02020603050405020304" pitchFamily="18" charset="0"/>
                <a:cs typeface="Times New Roman" panose="02020603050405020304" pitchFamily="18" charset="0"/>
              </a:rPr>
              <a:t>Contents</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gn="ct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
        <p:nvSpPr>
          <p:cNvPr id="4" name="Rectangle 3">
            <a:extLst>
              <a:ext uri="{FF2B5EF4-FFF2-40B4-BE49-F238E27FC236}">
                <a16:creationId xmlns:a16="http://schemas.microsoft.com/office/drawing/2014/main" id="{63718FE8-3386-58EA-10A3-7C4A69418192}"/>
              </a:ext>
            </a:extLst>
          </p:cNvPr>
          <p:cNvSpPr>
            <a:spLocks noChangeArrowheads="1"/>
          </p:cNvSpPr>
          <p:nvPr/>
        </p:nvSpPr>
        <p:spPr bwMode="auto">
          <a:xfrm>
            <a:off x="227224" y="1080196"/>
            <a:ext cx="8712288" cy="4059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Abstract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&amp; Problem Statement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 &amp; Scope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Methodology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&amp; Preprocessing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Human–AI Collaborative Framework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Experimental Results &amp; Findings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 &amp; Future Scope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References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8B063-9B35-C9C7-8DFA-B0DC753341BC}"/>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Abstract</a:t>
            </a:r>
          </a:p>
        </p:txBody>
      </p:sp>
      <p:sp>
        <p:nvSpPr>
          <p:cNvPr id="4" name="Rectangle 1">
            <a:extLst>
              <a:ext uri="{FF2B5EF4-FFF2-40B4-BE49-F238E27FC236}">
                <a16:creationId xmlns:a16="http://schemas.microsoft.com/office/drawing/2014/main" id="{523F67C2-4561-A872-566F-7846FC9F72B8}"/>
              </a:ext>
            </a:extLst>
          </p:cNvPr>
          <p:cNvSpPr>
            <a:spLocks noGrp="1" noChangeArrowheads="1"/>
          </p:cNvSpPr>
          <p:nvPr>
            <p:ph type="subTitle"/>
          </p:nvPr>
        </p:nvSpPr>
        <p:spPr bwMode="auto">
          <a:xfrm>
            <a:off x="84841" y="565249"/>
            <a:ext cx="8601599" cy="5859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Intelligence (AI) is increasingly used in various sectors to improve decision-making processes.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systems can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analyse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large amounts of data quickly and identify hidden patterns efficiently.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However, AI lacks human qualities such as ethical reasoning, contextual understanding, and accountability.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study proposes a Human–AI collaborative framework that combines machine learning predictions with human judgment.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Loan approval data was used as a case study to evaluate the framework.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 and Random Forest models were implemented for predictive analysis.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results demonstrate that combining AI capabilities with human expertise improves transparency, trust, and decision quality. </a:t>
            </a:r>
          </a:p>
        </p:txBody>
      </p:sp>
    </p:spTree>
    <p:extLst>
      <p:ext uri="{BB962C8B-B14F-4D97-AF65-F5344CB8AC3E}">
        <p14:creationId xmlns:p14="http://schemas.microsoft.com/office/powerpoint/2010/main" val="1241490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B4A4-C819-0450-5569-DEFDAFF20B70}"/>
              </a:ext>
            </a:extLst>
          </p:cNvPr>
          <p:cNvSpPr>
            <a:spLocks noGrp="1"/>
          </p:cNvSpPr>
          <p:nvPr>
            <p:ph type="title"/>
          </p:nvPr>
        </p:nvSpPr>
        <p:spPr/>
        <p:txBody>
          <a:bodyPr/>
          <a:lstStyle/>
          <a:p>
            <a:pPr algn="ctr"/>
            <a:r>
              <a:rPr lang="en-US" dirty="0" err="1">
                <a:latin typeface="Times New Roman" panose="02020603050405020304" pitchFamily="18" charset="0"/>
                <a:cs typeface="Times New Roman" panose="02020603050405020304" pitchFamily="18" charset="0"/>
              </a:rPr>
              <a:t>Intoduction</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ED94C02-6461-E62D-FDBF-4C40A1C40B67}"/>
              </a:ext>
            </a:extLst>
          </p:cNvPr>
          <p:cNvSpPr>
            <a:spLocks noGrp="1"/>
          </p:cNvSpPr>
          <p:nvPr>
            <p:ph type="subTitle"/>
          </p:nvPr>
        </p:nvSpPr>
        <p:spPr>
          <a:xfrm>
            <a:off x="179108" y="914040"/>
            <a:ext cx="8757501" cy="5713003"/>
          </a:xfrm>
        </p:spPr>
        <p:txBody>
          <a:bodyPr/>
          <a:lstStyle/>
          <a:p>
            <a:pPr>
              <a:lnSpc>
                <a:spcPct val="10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Introduction</a:t>
            </a:r>
          </a:p>
          <a:p>
            <a:pPr marL="0" indent="0">
              <a:lnSpc>
                <a:spcPct val="100000"/>
              </a:lnSpc>
              <a:buNone/>
            </a:pPr>
            <a:r>
              <a:rPr lang="en-US" sz="1800" dirty="0">
                <a:latin typeface="Times New Roman" panose="02020603050405020304" pitchFamily="18" charset="0"/>
                <a:cs typeface="Times New Roman" panose="02020603050405020304" pitchFamily="18" charset="0"/>
              </a:rPr>
              <a:t>Artificial Intelligence (AI) has become an important technology in modern decision-making systems and is widely used in healthcare, finance, education, business analytics, and fraud detection. AI systems can </a:t>
            </a:r>
            <a:r>
              <a:rPr lang="en-US" sz="1800" dirty="0" err="1">
                <a:latin typeface="Times New Roman" panose="02020603050405020304" pitchFamily="18" charset="0"/>
                <a:cs typeface="Times New Roman" panose="02020603050405020304" pitchFamily="18" charset="0"/>
              </a:rPr>
              <a:t>analyse</a:t>
            </a:r>
            <a:r>
              <a:rPr lang="en-US" sz="1800" dirty="0">
                <a:latin typeface="Times New Roman" panose="02020603050405020304" pitchFamily="18" charset="0"/>
                <a:cs typeface="Times New Roman" panose="02020603050405020304" pitchFamily="18" charset="0"/>
              </a:rPr>
              <a:t> large amounts of data quickly, identify hidden patterns, and improve the speed and accuracy of decision-making. Due to these advantages, AI is increasingly being integrated into critical real-world applications and </a:t>
            </a:r>
            <a:r>
              <a:rPr lang="en-US" sz="1800" dirty="0" err="1">
                <a:latin typeface="Times New Roman" panose="02020603050405020304" pitchFamily="18" charset="0"/>
                <a:cs typeface="Times New Roman" panose="02020603050405020304" pitchFamily="18" charset="0"/>
              </a:rPr>
              <a:t>organisational</a:t>
            </a:r>
            <a:r>
              <a:rPr lang="en-US" sz="1800" dirty="0">
                <a:latin typeface="Times New Roman" panose="02020603050405020304" pitchFamily="18" charset="0"/>
                <a:cs typeface="Times New Roman" panose="02020603050405020304" pitchFamily="18" charset="0"/>
              </a:rPr>
              <a:t> processes.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Problem Statement</a:t>
            </a:r>
          </a:p>
          <a:p>
            <a:pPr marL="0" indent="0">
              <a:lnSpc>
                <a:spcPct val="100000"/>
              </a:lnSpc>
              <a:buNone/>
            </a:pPr>
            <a:r>
              <a:rPr lang="en-US" sz="1800" dirty="0">
                <a:latin typeface="Times New Roman" panose="02020603050405020304" pitchFamily="18" charset="0"/>
                <a:cs typeface="Times New Roman" panose="02020603050405020304" pitchFamily="18" charset="0"/>
              </a:rPr>
              <a:t>Despite its advantages, AI systems face several limitations and challenges. Many AI models operate as “black-box” systems, making their decisions difficult to understand and interpret. AI systems may also contain bias due to biased training data and lack human qualities such as ethics, accountability, emotional understanding, and contextual reasoning. As a result, fully automated decision-making can reduce trust and create ethical concerns, highlighting the need for Human–AI collaboration where AI supports human decision-makers instead of replacing them.</a:t>
            </a:r>
          </a:p>
          <a:p>
            <a:pPr>
              <a:lnSpc>
                <a:spcPct val="10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7018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228A9-5DC5-743C-9ADD-CB274E7B0129}"/>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Objectives</a:t>
            </a:r>
            <a:r>
              <a:rPr lang="en-US" dirty="0"/>
              <a:t> &amp; Scope</a:t>
            </a:r>
          </a:p>
        </p:txBody>
      </p:sp>
      <p:sp>
        <p:nvSpPr>
          <p:cNvPr id="3" name="Subtitle 2">
            <a:extLst>
              <a:ext uri="{FF2B5EF4-FFF2-40B4-BE49-F238E27FC236}">
                <a16:creationId xmlns:a16="http://schemas.microsoft.com/office/drawing/2014/main" id="{7AF5F497-8EE6-C08E-0186-740AB83E4238}"/>
              </a:ext>
            </a:extLst>
          </p:cNvPr>
          <p:cNvSpPr>
            <a:spLocks noGrp="1"/>
          </p:cNvSpPr>
          <p:nvPr>
            <p:ph type="subTitle"/>
          </p:nvPr>
        </p:nvSpPr>
        <p:spPr>
          <a:xfrm>
            <a:off x="94269" y="1018095"/>
            <a:ext cx="8592172" cy="5410985"/>
          </a:xfrm>
        </p:spPr>
        <p:txBody>
          <a:bodyPr/>
          <a:lstStyle/>
          <a:p>
            <a:pPr marL="0" indent="0">
              <a:buNone/>
            </a:pPr>
            <a:r>
              <a:rPr lang="en-US" sz="2000" b="1" dirty="0">
                <a:latin typeface="Times New Roman" panose="02020603050405020304" pitchFamily="18" charset="0"/>
                <a:cs typeface="Times New Roman" panose="02020603050405020304" pitchFamily="18" charset="0"/>
              </a:rPr>
              <a:t>Objectives</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Develop a Human–AI collaborative framework for decision-making.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Improve transparency, trust, and explainability in AI systems.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Compare AI-generated predictions with human decision-making.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Demonstrate how AI can support humans in making accurate and efficient decisions. </a:t>
            </a:r>
          </a:p>
          <a:p>
            <a:pPr marL="0" indent="0">
              <a:buNone/>
            </a:pPr>
            <a:r>
              <a:rPr lang="en-US" sz="2000" b="1" dirty="0">
                <a:latin typeface="Times New Roman" panose="02020603050405020304" pitchFamily="18" charset="0"/>
                <a:cs typeface="Times New Roman" panose="02020603050405020304" pitchFamily="18" charset="0"/>
              </a:rPr>
              <a:t>Scope</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proposed framework can be applied in various domains such as:</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Finance and loan approval systems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Healthcare and medical diagnosis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Recruitment and hiring analysis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Risk assessment and fraud detection</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336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A561-96F1-D391-35C9-4137E7ADB8FE}"/>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CAE97B5E-41EA-0113-8319-4B6A192ACD87}"/>
              </a:ext>
            </a:extLst>
          </p:cNvPr>
          <p:cNvSpPr>
            <a:spLocks noGrp="1"/>
          </p:cNvSpPr>
          <p:nvPr>
            <p:ph type="subTitle"/>
          </p:nvPr>
        </p:nvSpPr>
        <p:spPr>
          <a:xfrm>
            <a:off x="150829" y="1036948"/>
            <a:ext cx="8535611" cy="5382706"/>
          </a:xfrm>
        </p:spPr>
        <p:txBody>
          <a:bodyPr/>
          <a:lstStyle/>
          <a:p>
            <a:pPr marL="0" indent="0">
              <a:buNone/>
            </a:pPr>
            <a:r>
              <a:rPr lang="en-US" sz="2000" b="1" dirty="0">
                <a:latin typeface="Times New Roman" panose="02020603050405020304" pitchFamily="18" charset="0"/>
                <a:cs typeface="Times New Roman" panose="02020603050405020304" pitchFamily="18" charset="0"/>
              </a:rPr>
              <a:t>Workflow:</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Dataset Collection</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Data Preprocessing</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Feature Encoding &amp; Feature Scaling</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Model Training &amp; Testing</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Prediction Generation</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Human Evaluation &amp; Final Decision</a:t>
            </a:r>
          </a:p>
          <a:p>
            <a:pPr marL="0" indent="0">
              <a:buNone/>
            </a:pPr>
            <a:r>
              <a:rPr lang="en-US" sz="1800" b="1" dirty="0">
                <a:latin typeface="Times New Roman" panose="02020603050405020304" pitchFamily="18" charset="0"/>
                <a:cs typeface="Times New Roman" panose="02020603050405020304" pitchFamily="18" charset="0"/>
              </a:rPr>
              <a:t>Models Used :</a:t>
            </a:r>
          </a:p>
          <a:p>
            <a:pPr>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Logistic Regression</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Used for binary classification and interpretable predictions.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Helps determine whether a loan application is approved or rejected. </a:t>
            </a:r>
          </a:p>
          <a:p>
            <a:pPr>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Random Forest</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Ensemble learning technique based on multiple decision trees.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Improves prediction accuracy and reduces overfitting. </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4121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9691B-41C4-8017-E7D9-35DCA26623CE}"/>
              </a:ext>
            </a:extLst>
          </p:cNvPr>
          <p:cNvSpPr>
            <a:spLocks noGrp="1"/>
          </p:cNvSpPr>
          <p:nvPr>
            <p:ph type="title"/>
          </p:nvPr>
        </p:nvSpPr>
        <p:spPr>
          <a:xfrm>
            <a:off x="254524" y="141402"/>
            <a:ext cx="5231516" cy="688158"/>
          </a:xfrm>
        </p:spPr>
        <p:txBody>
          <a:bodyPr/>
          <a:lstStyle/>
          <a:p>
            <a:pPr>
              <a:lnSpc>
                <a:spcPct val="100000"/>
              </a:lnSpc>
            </a:pPr>
            <a:r>
              <a:rPr lang="en-US" sz="4000" dirty="0">
                <a:latin typeface="Times New Roman" panose="02020603050405020304" pitchFamily="18" charset="0"/>
                <a:cs typeface="Times New Roman" panose="02020603050405020304" pitchFamily="18" charset="0"/>
              </a:rPr>
              <a:t>Dataset &amp; Preprocessing</a:t>
            </a:r>
          </a:p>
        </p:txBody>
      </p:sp>
      <p:sp>
        <p:nvSpPr>
          <p:cNvPr id="3" name="Subtitle 2">
            <a:extLst>
              <a:ext uri="{FF2B5EF4-FFF2-40B4-BE49-F238E27FC236}">
                <a16:creationId xmlns:a16="http://schemas.microsoft.com/office/drawing/2014/main" id="{A0801799-C2CB-56D9-8498-01424096ABC0}"/>
              </a:ext>
            </a:extLst>
          </p:cNvPr>
          <p:cNvSpPr>
            <a:spLocks noGrp="1"/>
          </p:cNvSpPr>
          <p:nvPr>
            <p:ph type="subTitle"/>
          </p:nvPr>
        </p:nvSpPr>
        <p:spPr>
          <a:xfrm>
            <a:off x="141402" y="1046375"/>
            <a:ext cx="8545038" cy="4535425"/>
          </a:xfrm>
        </p:spPr>
        <p:txBody>
          <a:bodyPr/>
          <a:lstStyle/>
          <a:p>
            <a:pPr>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Dataset</a:t>
            </a:r>
          </a:p>
          <a:p>
            <a:pPr marL="0" indent="0">
              <a:lnSpc>
                <a:spcPct val="150000"/>
              </a:lnSpc>
              <a:buNone/>
            </a:pPr>
            <a:r>
              <a:rPr lang="en-US" sz="1800" dirty="0">
                <a:latin typeface="Times New Roman" panose="02020603050405020304" pitchFamily="18" charset="0"/>
                <a:cs typeface="Times New Roman" panose="02020603050405020304" pitchFamily="18" charset="0"/>
              </a:rPr>
              <a:t>The study uses a loan approval dataset containing important applicant information such as gender, applicant income, loan amount, credit history, education level, and loan status. These attributes help the machine learning models </a:t>
            </a:r>
            <a:r>
              <a:rPr lang="en-US" sz="1800" dirty="0" err="1">
                <a:latin typeface="Times New Roman" panose="02020603050405020304" pitchFamily="18" charset="0"/>
                <a:cs typeface="Times New Roman" panose="02020603050405020304" pitchFamily="18" charset="0"/>
              </a:rPr>
              <a:t>analyse</a:t>
            </a:r>
            <a:r>
              <a:rPr lang="en-US" sz="1800" dirty="0">
                <a:latin typeface="Times New Roman" panose="02020603050405020304" pitchFamily="18" charset="0"/>
                <a:cs typeface="Times New Roman" panose="02020603050405020304" pitchFamily="18" charset="0"/>
              </a:rPr>
              <a:t> patterns related to loan approval decisions.</a:t>
            </a:r>
          </a:p>
          <a:p>
            <a:pPr>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Preprocessing</a:t>
            </a:r>
          </a:p>
          <a:p>
            <a:pPr marL="0" indent="0">
              <a:lnSpc>
                <a:spcPct val="150000"/>
              </a:lnSpc>
              <a:buNone/>
            </a:pPr>
            <a:r>
              <a:rPr lang="en-US" sz="1800" dirty="0">
                <a:latin typeface="Times New Roman" panose="02020603050405020304" pitchFamily="18" charset="0"/>
                <a:cs typeface="Times New Roman" panose="02020603050405020304" pitchFamily="18" charset="0"/>
              </a:rPr>
              <a:t>Before training the models, the dataset was preprocessed by handling missing values, converting categorical data into numerical format using Label Encoding, and applying Feature Scaling to normalize numerical values for better model performance.</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981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DE578-19A4-DD6F-D33E-25B1A5F8696D}"/>
              </a:ext>
            </a:extLst>
          </p:cNvPr>
          <p:cNvSpPr>
            <a:spLocks noGrp="1"/>
          </p:cNvSpPr>
          <p:nvPr>
            <p:ph type="title"/>
          </p:nvPr>
        </p:nvSpPr>
        <p:spPr>
          <a:xfrm>
            <a:off x="-1" y="0"/>
            <a:ext cx="6532775" cy="914040"/>
          </a:xfrm>
        </p:spPr>
        <p:txBody>
          <a:bodyPr/>
          <a:lstStyle/>
          <a:p>
            <a:r>
              <a:rPr lang="en-US" sz="3200" dirty="0">
                <a:latin typeface="Times New Roman" panose="02020603050405020304" pitchFamily="18" charset="0"/>
                <a:cs typeface="Times New Roman" panose="02020603050405020304" pitchFamily="18" charset="0"/>
              </a:rPr>
              <a:t>Human–AI Collaborative Framework</a:t>
            </a:r>
          </a:p>
        </p:txBody>
      </p:sp>
      <p:sp>
        <p:nvSpPr>
          <p:cNvPr id="3" name="Subtitle 2">
            <a:extLst>
              <a:ext uri="{FF2B5EF4-FFF2-40B4-BE49-F238E27FC236}">
                <a16:creationId xmlns:a16="http://schemas.microsoft.com/office/drawing/2014/main" id="{1C89CB7C-C064-E696-6EDE-DA117B76A791}"/>
              </a:ext>
            </a:extLst>
          </p:cNvPr>
          <p:cNvSpPr>
            <a:spLocks noGrp="1"/>
          </p:cNvSpPr>
          <p:nvPr>
            <p:ph type="subTitle"/>
          </p:nvPr>
        </p:nvSpPr>
        <p:spPr>
          <a:xfrm>
            <a:off x="179110" y="1253764"/>
            <a:ext cx="8573318" cy="4799375"/>
          </a:xfrm>
        </p:spPr>
        <p:txBody>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AI Role</a:t>
            </a:r>
          </a:p>
          <a:p>
            <a:pPr>
              <a:buFont typeface="Wingdings" panose="05000000000000000000" pitchFamily="2" charset="2"/>
              <a:buChar char="§"/>
            </a:pPr>
            <a:r>
              <a:rPr lang="en-US" sz="2000" dirty="0" err="1">
                <a:latin typeface="Times New Roman" panose="02020603050405020304" pitchFamily="18" charset="0"/>
                <a:cs typeface="Times New Roman" panose="02020603050405020304" pitchFamily="18" charset="0"/>
              </a:rPr>
              <a:t>Analyse</a:t>
            </a:r>
            <a:r>
              <a:rPr lang="en-US" sz="2000" dirty="0">
                <a:latin typeface="Times New Roman" panose="02020603050405020304" pitchFamily="18" charset="0"/>
                <a:cs typeface="Times New Roman" panose="02020603050405020304" pitchFamily="18" charset="0"/>
              </a:rPr>
              <a:t> large volumes of structured data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Detect hidden patterns and relationships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Generate predictive insights and recommendations </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Human Role</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Interpret AI-generated results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Apply ethics and contextual understanding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Make the final decision based on both AI predictions and human judgment </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Goal</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main goal of the framework is to create a collaborative system where AI assists humans in decision-making rather than replacing them completely.</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5784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39562-0533-29B9-C283-32AC999F170A}"/>
              </a:ext>
            </a:extLst>
          </p:cNvPr>
          <p:cNvSpPr>
            <a:spLocks noGrp="1"/>
          </p:cNvSpPr>
          <p:nvPr>
            <p:ph type="title"/>
          </p:nvPr>
        </p:nvSpPr>
        <p:spPr/>
        <p:txBody>
          <a:bodyPr/>
          <a:lstStyle/>
          <a:p>
            <a:pPr algn="ctr"/>
            <a:r>
              <a:rPr lang="en-US" sz="4000" dirty="0">
                <a:latin typeface="Times New Roman" panose="02020603050405020304" pitchFamily="18" charset="0"/>
                <a:cs typeface="Times New Roman" panose="02020603050405020304" pitchFamily="18" charset="0"/>
              </a:rPr>
              <a:t>Experimental Results</a:t>
            </a:r>
          </a:p>
        </p:txBody>
      </p:sp>
      <p:sp>
        <p:nvSpPr>
          <p:cNvPr id="3" name="Subtitle 2">
            <a:extLst>
              <a:ext uri="{FF2B5EF4-FFF2-40B4-BE49-F238E27FC236}">
                <a16:creationId xmlns:a16="http://schemas.microsoft.com/office/drawing/2014/main" id="{EF5DE993-A07C-38FF-278B-0FD40E07DE6F}"/>
              </a:ext>
            </a:extLst>
          </p:cNvPr>
          <p:cNvSpPr>
            <a:spLocks noGrp="1"/>
          </p:cNvSpPr>
          <p:nvPr>
            <p:ph type="subTitle"/>
          </p:nvPr>
        </p:nvSpPr>
        <p:spPr>
          <a:xfrm>
            <a:off x="214459" y="0"/>
            <a:ext cx="8297945" cy="4345757"/>
          </a:xfrm>
        </p:spPr>
        <p:txBody>
          <a:bodyPr/>
          <a:lstStyle/>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Findings</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Logistic Regression achieved slightly higher accuracy than Random Forest.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Credit history was one of the most influential factors in loan approval prediction.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Machine learning models successfully identified hidden patterns within the dataset and provided useful predictive insights.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Model Performance</a:t>
            </a:r>
          </a:p>
          <a:p>
            <a:pPr marL="0" indent="0">
              <a:buNone/>
            </a:pPr>
            <a:endParaRPr lang="en-US" sz="18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9359692-5EE8-80D0-384C-C70EB8E573E3}"/>
              </a:ext>
            </a:extLst>
          </p:cNvPr>
          <p:cNvGraphicFramePr>
            <a:graphicFrameLocks noGrp="1"/>
          </p:cNvGraphicFramePr>
          <p:nvPr>
            <p:extLst>
              <p:ext uri="{D42A27DB-BD31-4B8C-83A1-F6EECF244321}">
                <p14:modId xmlns:p14="http://schemas.microsoft.com/office/powerpoint/2010/main" val="3222037995"/>
              </p:ext>
            </p:extLst>
          </p:nvPr>
        </p:nvGraphicFramePr>
        <p:xfrm>
          <a:off x="250987" y="3787219"/>
          <a:ext cx="8475876" cy="1490983"/>
        </p:xfrm>
        <a:graphic>
          <a:graphicData uri="http://schemas.openxmlformats.org/drawingml/2006/table">
            <a:tbl>
              <a:tblPr>
                <a:tableStyleId>{073A0DAA-6AF3-43AB-8588-CEC1D06C72B9}</a:tableStyleId>
              </a:tblPr>
              <a:tblGrid>
                <a:gridCol w="4235510">
                  <a:extLst>
                    <a:ext uri="{9D8B030D-6E8A-4147-A177-3AD203B41FA5}">
                      <a16:colId xmlns:a16="http://schemas.microsoft.com/office/drawing/2014/main" val="3042861326"/>
                    </a:ext>
                  </a:extLst>
                </a:gridCol>
                <a:gridCol w="4240366">
                  <a:extLst>
                    <a:ext uri="{9D8B030D-6E8A-4147-A177-3AD203B41FA5}">
                      <a16:colId xmlns:a16="http://schemas.microsoft.com/office/drawing/2014/main" val="1245429350"/>
                    </a:ext>
                  </a:extLst>
                </a:gridCol>
              </a:tblGrid>
              <a:tr h="505831">
                <a:tc>
                  <a:txBody>
                    <a:bodyPr/>
                    <a:lstStyle/>
                    <a:p>
                      <a:pPr>
                        <a:buNone/>
                      </a:pPr>
                      <a:r>
                        <a:rPr lang="en-US" dirty="0">
                          <a:solidFill>
                            <a:schemeClr val="tx1"/>
                          </a:solidFill>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solidFill>
                            <a:schemeClr val="tx1"/>
                          </a:solidFill>
                        </a:rPr>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909429"/>
                  </a:ext>
                </a:extLst>
              </a:tr>
              <a:tr h="492576">
                <a:tc>
                  <a:txBody>
                    <a:bodyPr/>
                    <a:lstStyle/>
                    <a:p>
                      <a:pPr>
                        <a:buNone/>
                      </a:pPr>
                      <a:r>
                        <a:rPr lang="en-US" dirty="0">
                          <a:solidFill>
                            <a:schemeClr val="tx1"/>
                          </a:solidFill>
                        </a:rPr>
                        <a:t>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solidFill>
                            <a:schemeClr val="tx1"/>
                          </a:solidFill>
                        </a:rPr>
                        <a:t>78.86%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0098318"/>
                  </a:ext>
                </a:extLst>
              </a:tr>
              <a:tr h="492576">
                <a:tc>
                  <a:txBody>
                    <a:bodyPr/>
                    <a:lstStyle/>
                    <a:p>
                      <a:pPr>
                        <a:buNone/>
                      </a:pPr>
                      <a:r>
                        <a:rPr lang="en-US" dirty="0">
                          <a:solidFill>
                            <a:schemeClr val="tx1"/>
                          </a:solidFill>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solidFill>
                            <a:schemeClr val="tx1"/>
                          </a:solidFill>
                        </a:rPr>
                        <a:t>78.04%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431553"/>
                  </a:ext>
                </a:extLst>
              </a:tr>
            </a:tbl>
          </a:graphicData>
        </a:graphic>
      </p:graphicFrame>
    </p:spTree>
    <p:extLst>
      <p:ext uri="{BB962C8B-B14F-4D97-AF65-F5344CB8AC3E}">
        <p14:creationId xmlns:p14="http://schemas.microsoft.com/office/powerpoint/2010/main" val="2960454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7133D-E9D1-2A5B-DEA4-05667AC90D5F}"/>
              </a:ext>
            </a:extLst>
          </p:cNvPr>
          <p:cNvSpPr>
            <a:spLocks noGrp="1"/>
          </p:cNvSpPr>
          <p:nvPr>
            <p:ph type="title"/>
          </p:nvPr>
        </p:nvSpPr>
        <p:spPr/>
        <p:txBody>
          <a:bodyPr/>
          <a:lstStyle/>
          <a:p>
            <a:pPr algn="ctr"/>
            <a:r>
              <a:rPr lang="en-US" sz="3600" dirty="0">
                <a:latin typeface="Times New Roman" panose="02020603050405020304" pitchFamily="18" charset="0"/>
                <a:cs typeface="Times New Roman" panose="02020603050405020304" pitchFamily="18" charset="0"/>
              </a:rPr>
              <a:t>Accuracy Comparison Graph</a:t>
            </a:r>
          </a:p>
        </p:txBody>
      </p:sp>
      <p:pic>
        <p:nvPicPr>
          <p:cNvPr id="5" name="Picture 4">
            <a:extLst>
              <a:ext uri="{FF2B5EF4-FFF2-40B4-BE49-F238E27FC236}">
                <a16:creationId xmlns:a16="http://schemas.microsoft.com/office/drawing/2014/main" id="{3FA1139D-EF1C-539D-004C-519F42E299A2}"/>
              </a:ext>
            </a:extLst>
          </p:cNvPr>
          <p:cNvPicPr>
            <a:picLocks noChangeAspect="1"/>
          </p:cNvPicPr>
          <p:nvPr/>
        </p:nvPicPr>
        <p:blipFill>
          <a:blip r:embed="rId2"/>
          <a:stretch>
            <a:fillRect/>
          </a:stretch>
        </p:blipFill>
        <p:spPr>
          <a:xfrm>
            <a:off x="952107" y="1276200"/>
            <a:ext cx="6770046" cy="4912925"/>
          </a:xfrm>
          <a:prstGeom prst="rect">
            <a:avLst/>
          </a:prstGeom>
          <a:ln>
            <a:solidFill>
              <a:schemeClr val="tx1"/>
            </a:solidFill>
          </a:ln>
        </p:spPr>
      </p:pic>
    </p:spTree>
    <p:extLst>
      <p:ext uri="{BB962C8B-B14F-4D97-AF65-F5344CB8AC3E}">
        <p14:creationId xmlns:p14="http://schemas.microsoft.com/office/powerpoint/2010/main" val="3025984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DE2CE-7C89-2844-911E-CE5503042A8D}"/>
              </a:ext>
            </a:extLst>
          </p:cNvPr>
          <p:cNvSpPr>
            <a:spLocks noGrp="1"/>
          </p:cNvSpPr>
          <p:nvPr>
            <p:ph type="title"/>
          </p:nvPr>
        </p:nvSpPr>
        <p:spPr/>
        <p:txBody>
          <a:bodyPr/>
          <a:lstStyle/>
          <a:p>
            <a:pPr algn="ctr"/>
            <a:r>
              <a:rPr lang="en-US" sz="3600" dirty="0">
                <a:latin typeface="Times New Roman" panose="02020603050405020304" pitchFamily="18" charset="0"/>
                <a:cs typeface="Times New Roman" panose="02020603050405020304" pitchFamily="18" charset="0"/>
              </a:rPr>
              <a:t>Confusion Matrix &amp; Findings</a:t>
            </a:r>
          </a:p>
        </p:txBody>
      </p:sp>
      <p:pic>
        <p:nvPicPr>
          <p:cNvPr id="5" name="Picture 4">
            <a:extLst>
              <a:ext uri="{FF2B5EF4-FFF2-40B4-BE49-F238E27FC236}">
                <a16:creationId xmlns:a16="http://schemas.microsoft.com/office/drawing/2014/main" id="{4C99263D-A567-821E-CCB5-67550EA569F3}"/>
              </a:ext>
            </a:extLst>
          </p:cNvPr>
          <p:cNvPicPr>
            <a:picLocks noChangeAspect="1"/>
          </p:cNvPicPr>
          <p:nvPr/>
        </p:nvPicPr>
        <p:blipFill>
          <a:blip r:embed="rId2"/>
          <a:stretch>
            <a:fillRect/>
          </a:stretch>
        </p:blipFill>
        <p:spPr>
          <a:xfrm>
            <a:off x="1573270" y="1281407"/>
            <a:ext cx="5997460" cy="4747671"/>
          </a:xfrm>
          <a:prstGeom prst="rect">
            <a:avLst/>
          </a:prstGeom>
          <a:ln>
            <a:solidFill>
              <a:schemeClr val="tx1"/>
            </a:solidFill>
          </a:ln>
        </p:spPr>
      </p:pic>
    </p:spTree>
    <p:extLst>
      <p:ext uri="{BB962C8B-B14F-4D97-AF65-F5344CB8AC3E}">
        <p14:creationId xmlns:p14="http://schemas.microsoft.com/office/powerpoint/2010/main" val="1200408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D43F2-11A0-5675-36F8-F48A2EF2D8E8}"/>
              </a:ext>
            </a:extLst>
          </p:cNvPr>
          <p:cNvSpPr>
            <a:spLocks noGrp="1"/>
          </p:cNvSpPr>
          <p:nvPr>
            <p:ph type="title"/>
          </p:nvPr>
        </p:nvSpPr>
        <p:spPr/>
        <p:txBody>
          <a:bodyPr/>
          <a:lstStyle/>
          <a:p>
            <a:pPr algn="ctr"/>
            <a:r>
              <a:rPr lang="en-US" sz="3600" dirty="0">
                <a:latin typeface="Times New Roman" panose="02020603050405020304" pitchFamily="18" charset="0"/>
                <a:cs typeface="Times New Roman" panose="02020603050405020304" pitchFamily="18" charset="0"/>
              </a:rPr>
              <a:t>Confusion Matrix &amp; Findings</a:t>
            </a:r>
            <a:endParaRPr lang="en-US" sz="3600" dirty="0"/>
          </a:p>
        </p:txBody>
      </p:sp>
      <p:sp>
        <p:nvSpPr>
          <p:cNvPr id="3" name="Subtitle 2">
            <a:extLst>
              <a:ext uri="{FF2B5EF4-FFF2-40B4-BE49-F238E27FC236}">
                <a16:creationId xmlns:a16="http://schemas.microsoft.com/office/drawing/2014/main" id="{0E13D2BA-0B2A-743A-0B61-AA61B6BBDC16}"/>
              </a:ext>
            </a:extLst>
          </p:cNvPr>
          <p:cNvSpPr>
            <a:spLocks noGrp="1"/>
          </p:cNvSpPr>
          <p:nvPr>
            <p:ph type="subTitle"/>
          </p:nvPr>
        </p:nvSpPr>
        <p:spPr>
          <a:xfrm>
            <a:off x="226243" y="1208593"/>
            <a:ext cx="8691513" cy="5277047"/>
          </a:xfrm>
        </p:spPr>
        <p:txBody>
          <a:bodyPr/>
          <a:lstStyle/>
          <a:p>
            <a:pPr marL="0" indent="0">
              <a:buNone/>
            </a:pPr>
            <a:endParaRPr lang="en-US" b="1" dirty="0"/>
          </a:p>
          <a:p>
            <a:pPr marL="0" indent="0">
              <a:buNone/>
            </a:pPr>
            <a:r>
              <a:rPr lang="en-US" sz="2000" b="1" dirty="0"/>
              <a:t>   </a:t>
            </a:r>
            <a:r>
              <a:rPr lang="en-US" sz="2000" b="1" dirty="0">
                <a:latin typeface="Times New Roman" panose="02020603050405020304" pitchFamily="18" charset="0"/>
                <a:cs typeface="Times New Roman" panose="02020603050405020304" pitchFamily="18" charset="0"/>
              </a:rPr>
              <a:t>Key Findings:</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Most approvals predicted correctly.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Some errors still occur. </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Human validation remains necessary.</a:t>
            </a:r>
          </a:p>
          <a:p>
            <a:pPr marL="0" indent="0">
              <a:buNone/>
            </a:pPr>
            <a:endParaRPr lang="en-US" dirty="0"/>
          </a:p>
        </p:txBody>
      </p:sp>
      <p:graphicFrame>
        <p:nvGraphicFramePr>
          <p:cNvPr id="4" name="Table 3">
            <a:extLst>
              <a:ext uri="{FF2B5EF4-FFF2-40B4-BE49-F238E27FC236}">
                <a16:creationId xmlns:a16="http://schemas.microsoft.com/office/drawing/2014/main" id="{22B41635-C1F0-58BF-509E-331BF14F79C7}"/>
              </a:ext>
            </a:extLst>
          </p:cNvPr>
          <p:cNvGraphicFramePr>
            <a:graphicFrameLocks noGrp="1"/>
          </p:cNvGraphicFramePr>
          <p:nvPr>
            <p:extLst>
              <p:ext uri="{D42A27DB-BD31-4B8C-83A1-F6EECF244321}">
                <p14:modId xmlns:p14="http://schemas.microsoft.com/office/powerpoint/2010/main" val="1467662114"/>
              </p:ext>
            </p:extLst>
          </p:nvPr>
        </p:nvGraphicFramePr>
        <p:xfrm>
          <a:off x="457200" y="1527142"/>
          <a:ext cx="8229600" cy="1241296"/>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464422100"/>
                    </a:ext>
                  </a:extLst>
                </a:gridCol>
                <a:gridCol w="2743200">
                  <a:extLst>
                    <a:ext uri="{9D8B030D-6E8A-4147-A177-3AD203B41FA5}">
                      <a16:colId xmlns:a16="http://schemas.microsoft.com/office/drawing/2014/main" val="4024353113"/>
                    </a:ext>
                  </a:extLst>
                </a:gridCol>
                <a:gridCol w="2743200">
                  <a:extLst>
                    <a:ext uri="{9D8B030D-6E8A-4147-A177-3AD203B41FA5}">
                      <a16:colId xmlns:a16="http://schemas.microsoft.com/office/drawing/2014/main" val="1939793617"/>
                    </a:ext>
                  </a:extLst>
                </a:gridCol>
              </a:tblGrid>
              <a:tr h="340521">
                <a:tc>
                  <a:txBody>
                    <a:bodyPr/>
                    <a:lstStyle/>
                    <a:p>
                      <a:pPr>
                        <a:buNone/>
                      </a:pPr>
                      <a:r>
                        <a:rPr lang="en-US" dirty="0"/>
                        <a:t>Actual / 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Rejected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Approved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3655047"/>
                  </a:ext>
                </a:extLst>
              </a:tr>
              <a:tr h="437768">
                <a:tc>
                  <a:txBody>
                    <a:bodyPr/>
                    <a:lstStyle/>
                    <a:p>
                      <a:pPr>
                        <a:buNone/>
                      </a:pPr>
                      <a:r>
                        <a:rPr lang="en-US" dirty="0"/>
                        <a:t>Rejected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7213052"/>
                  </a:ext>
                </a:extLst>
              </a:tr>
              <a:tr h="437768">
                <a:tc>
                  <a:txBody>
                    <a:bodyPr/>
                    <a:lstStyle/>
                    <a:p>
                      <a:pPr>
                        <a:buNone/>
                      </a:pPr>
                      <a:r>
                        <a:rPr lang="en-US" dirty="0"/>
                        <a:t>Approved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273066"/>
                  </a:ext>
                </a:extLst>
              </a:tr>
            </a:tbl>
          </a:graphicData>
        </a:graphic>
      </p:graphicFrame>
    </p:spTree>
    <p:extLst>
      <p:ext uri="{BB962C8B-B14F-4D97-AF65-F5344CB8AC3E}">
        <p14:creationId xmlns:p14="http://schemas.microsoft.com/office/powerpoint/2010/main" val="3424451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7BE37-A88C-ECB6-CBB0-928CE1B25660}"/>
              </a:ext>
            </a:extLst>
          </p:cNvPr>
          <p:cNvSpPr>
            <a:spLocks noGrp="1"/>
          </p:cNvSpPr>
          <p:nvPr>
            <p:ph type="title"/>
          </p:nvPr>
        </p:nvSpPr>
        <p:spPr/>
        <p:txBody>
          <a:bodyPr/>
          <a:lstStyle/>
          <a:p>
            <a:pPr algn="ctr"/>
            <a:r>
              <a:rPr lang="en-US" sz="3600" dirty="0">
                <a:latin typeface="Times New Roman" panose="02020603050405020304" pitchFamily="18" charset="0"/>
                <a:cs typeface="Times New Roman" panose="02020603050405020304" pitchFamily="18" charset="0"/>
              </a:rPr>
              <a:t>Conclusion &amp; Future Scope</a:t>
            </a:r>
          </a:p>
        </p:txBody>
      </p:sp>
      <p:sp>
        <p:nvSpPr>
          <p:cNvPr id="3" name="Subtitle 2">
            <a:extLst>
              <a:ext uri="{FF2B5EF4-FFF2-40B4-BE49-F238E27FC236}">
                <a16:creationId xmlns:a16="http://schemas.microsoft.com/office/drawing/2014/main" id="{9313027F-9EB9-DB0E-4D66-0C09CC900196}"/>
              </a:ext>
            </a:extLst>
          </p:cNvPr>
          <p:cNvSpPr>
            <a:spLocks noGrp="1"/>
          </p:cNvSpPr>
          <p:nvPr>
            <p:ph type="subTitle"/>
          </p:nvPr>
        </p:nvSpPr>
        <p:spPr>
          <a:xfrm>
            <a:off x="348792" y="1074656"/>
            <a:ext cx="8337648" cy="4930218"/>
          </a:xfrm>
        </p:spPr>
        <p:txBody>
          <a:bodyPr/>
          <a:lstStyle/>
          <a:p>
            <a:pPr marL="0" indent="0">
              <a:buNone/>
            </a:pPr>
            <a:r>
              <a:rPr lang="en-US" sz="2000" b="1" dirty="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Human-AI collaboration improves decision-making.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Explainable AI increases trust.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Hybrid Intelligence provides better outcomes.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Future Scope</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Larger datasets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Real-time systems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Advanced AI models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Multi-domain applications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9010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E4342-1FB1-85FF-6BF5-E2E74297E2C9}"/>
              </a:ext>
            </a:extLst>
          </p:cNvPr>
          <p:cNvSpPr>
            <a:spLocks noGrp="1"/>
          </p:cNvSpPr>
          <p:nvPr>
            <p:ph type="title"/>
          </p:nvPr>
        </p:nvSpPr>
        <p:spPr/>
        <p:txBody>
          <a:bodyPr/>
          <a:lstStyle/>
          <a:p>
            <a:pPr algn="ctr"/>
            <a:r>
              <a:rPr lang="en-US" dirty="0"/>
              <a:t>References</a:t>
            </a:r>
          </a:p>
        </p:txBody>
      </p:sp>
      <p:sp>
        <p:nvSpPr>
          <p:cNvPr id="3" name="Subtitle 2">
            <a:extLst>
              <a:ext uri="{FF2B5EF4-FFF2-40B4-BE49-F238E27FC236}">
                <a16:creationId xmlns:a16="http://schemas.microsoft.com/office/drawing/2014/main" id="{242DA3B7-1E44-66DD-DD5F-40482193C3F3}"/>
              </a:ext>
            </a:extLst>
          </p:cNvPr>
          <p:cNvSpPr>
            <a:spLocks noGrp="1"/>
          </p:cNvSpPr>
          <p:nvPr>
            <p:ph type="subTitle"/>
          </p:nvPr>
        </p:nvSpPr>
        <p:spPr>
          <a:xfrm>
            <a:off x="131975" y="980387"/>
            <a:ext cx="8554465" cy="5335571"/>
          </a:xfrm>
        </p:spPr>
        <p:txBody>
          <a:bodyPr/>
          <a:lstStyle/>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[1] S. Dolgikh and O. </a:t>
            </a:r>
            <a:r>
              <a:rPr lang="en-US" sz="2000" dirty="0" err="1">
                <a:latin typeface="Times New Roman" panose="02020603050405020304" pitchFamily="18" charset="0"/>
                <a:cs typeface="Times New Roman" panose="02020603050405020304" pitchFamily="18" charset="0"/>
              </a:rPr>
              <a:t>Mulesa</a:t>
            </a:r>
            <a:r>
              <a:rPr lang="en-US" sz="2000" dirty="0">
                <a:latin typeface="Times New Roman" panose="02020603050405020304" pitchFamily="18" charset="0"/>
                <a:cs typeface="Times New Roman" panose="02020603050405020304" pitchFamily="18" charset="0"/>
              </a:rPr>
              <a:t>, “Collaborative Human AI Decision-Making Systems,” in Proc. II Int. Scientific Symposium Intelligent Solutions (</a:t>
            </a:r>
            <a:r>
              <a:rPr lang="en-US" sz="2000" dirty="0" err="1">
                <a:latin typeface="Times New Roman" panose="02020603050405020304" pitchFamily="18" charset="0"/>
                <a:cs typeface="Times New Roman" panose="02020603050405020304" pitchFamily="18" charset="0"/>
              </a:rPr>
              <a:t>IntSol</a:t>
            </a:r>
            <a:r>
              <a:rPr lang="en-US" sz="2000" dirty="0">
                <a:latin typeface="Times New Roman" panose="02020603050405020304" pitchFamily="18" charset="0"/>
                <a:cs typeface="Times New Roman" panose="02020603050405020304" pitchFamily="18" charset="0"/>
              </a:rPr>
              <a:t> 2021), Kyiv-Uzhhorod, Ukraine, 2021, pp. 96–105.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[2] S. Eisbach, M. Langer, and G. Hertel, “Optimizing human-AI collaboration: Effects of motivation and accuracy information in AI-supported decision making,” Computers in Human Behavior: Artificial Humans, vol. 1, p. 100015, 2023.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[3] S. A. </a:t>
            </a:r>
            <a:r>
              <a:rPr lang="en-US" sz="2000" dirty="0" err="1">
                <a:latin typeface="Times New Roman" panose="02020603050405020304" pitchFamily="18" charset="0"/>
                <a:cs typeface="Times New Roman" panose="02020603050405020304" pitchFamily="18" charset="0"/>
              </a:rPr>
              <a:t>Shukkoor</a:t>
            </a:r>
            <a:r>
              <a:rPr lang="en-US" sz="2000" dirty="0">
                <a:latin typeface="Times New Roman" panose="02020603050405020304" pitchFamily="18" charset="0"/>
                <a:cs typeface="Times New Roman" panose="02020603050405020304" pitchFamily="18" charset="0"/>
              </a:rPr>
              <a:t>, “Human-AI collaboration in decision-making,” World Journal of Advanced Engineering Technology and Sciences, vol. 15, no. 1, pp. 2434–2440, 2025.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[4] E. A. Etuk and O. C. B. </a:t>
            </a:r>
            <a:r>
              <a:rPr lang="en-US" sz="2000" dirty="0" err="1">
                <a:latin typeface="Times New Roman" panose="02020603050405020304" pitchFamily="18" charset="0"/>
                <a:cs typeface="Times New Roman" panose="02020603050405020304" pitchFamily="18" charset="0"/>
              </a:rPr>
              <a:t>Omankwu</a:t>
            </a:r>
            <a:r>
              <a:rPr lang="en-US" sz="2000" dirty="0">
                <a:latin typeface="Times New Roman" panose="02020603050405020304" pitchFamily="18" charset="0"/>
                <a:cs typeface="Times New Roman" panose="02020603050405020304" pitchFamily="18" charset="0"/>
              </a:rPr>
              <a:t>, “Human-AI Collaboration: Enhancing Decision-Making in Critical Sectors,” Communication in Physical Sciences, vol. 12, no. 2, pp. 426–433, 2025.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[5] E. Brynjolfsson and A. McAfee, Machine, Platform, Crowd: Harnessing Our Digital Future. New York, NY, USA: W.W. Norton, 2017.</a:t>
            </a:r>
          </a:p>
        </p:txBody>
      </p:sp>
    </p:spTree>
    <p:extLst>
      <p:ext uri="{BB962C8B-B14F-4D97-AF65-F5344CB8AC3E}">
        <p14:creationId xmlns:p14="http://schemas.microsoft.com/office/powerpoint/2010/main" val="3915106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15</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34786</TotalTime>
  <Words>1022</Words>
  <Application>Microsoft Office PowerPoint</Application>
  <PresentationFormat>On-screen Show (4:3)</PresentationFormat>
  <Paragraphs>150</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PowerPoint Presentation</vt:lpstr>
      <vt:lpstr>PowerPoint Presentation</vt:lpstr>
      <vt:lpstr>Abstract</vt:lpstr>
      <vt:lpstr>Intoduction</vt:lpstr>
      <vt:lpstr>Objectives &amp; Scope</vt:lpstr>
      <vt:lpstr>Methodology</vt:lpstr>
      <vt:lpstr>Dataset &amp; Preprocessing</vt:lpstr>
      <vt:lpstr>Human–AI Collaborative Framework</vt:lpstr>
      <vt:lpstr>Experimental Results</vt:lpstr>
      <vt:lpstr>Accuracy Comparison Graph</vt:lpstr>
      <vt:lpstr>Confusion Matrix &amp; Findings</vt:lpstr>
      <vt:lpstr>Confusion Matrix &amp; Findings</vt:lpstr>
      <vt:lpstr>Conclusion &amp; Future Scope</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Avleen kaur</cp:lastModifiedBy>
  <cp:revision>2301</cp:revision>
  <dcterms:created xsi:type="dcterms:W3CDTF">2010-04-09T07:36:15Z</dcterms:created>
  <dcterms:modified xsi:type="dcterms:W3CDTF">2026-05-07T07:35:00Z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